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E48B3-688B-44E3-81C9-7837EF62D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70B5D9-A1B1-46EE-883A-701847159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D672D-5AB6-4D67-935B-0EF53A8E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B6FD3-1BED-4EA3-AA6D-3B3BF78EB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B9CA9-6B70-4E78-835C-961E88B8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88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F1810-34F6-4993-8CFD-38B0D7D7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9DB96-312C-4FE5-80E8-E2AB17212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3B4DE-CFE0-43EE-B87B-F976F124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CFD43-03F4-45E3-A57E-52C166C3D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06A6C-8AE7-4D21-8F72-FD0303EEA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28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3F24B-0531-4B8C-A0D5-F8E9DC0C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4BBE2-6FC6-4A41-9C75-516DD8A9F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3D167-BB27-4953-91EA-A603A0764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A57C2-F3A5-4814-9A96-F112D5EBE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CFE8E-2323-44C5-A8AE-C12DAEF8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884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8774-B76C-45B9-856D-40C21276B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92230-3B83-4E20-9F0B-435E4B06F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3C687-5172-419D-AC4E-854523CB0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7A16F-E236-4C34-A6D3-789E455FA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62A3E0-8217-45AF-A386-4F68255DF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B3B2B-476A-4041-9BDB-84E6FF103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65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A170-F8FF-4161-A30F-14C47087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D2893-C954-4F4B-9248-DABC82F75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0D25D0-2CA5-4DC4-B3CA-20C70871F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94CB2-2FDE-479C-997E-E4B71E8D20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A5D06-3879-4BF6-B71B-E383C787AC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FDABDD-56DD-465E-865B-A4A9CB4D6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6634B1-7760-4B68-9526-BC9787D91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F9908-2C8C-48D3-A06B-47322434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2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373B7-50FE-4363-838D-EC14944B7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5B988-1EA6-4EF1-A0D1-1E17B95E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3AA93-9FA2-4109-9EEE-D5F900EE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0928B-107E-4B09-96EB-5A0CF46A0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0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ABD92-7601-4357-BA66-4569ACDF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8202D-DF4C-40EB-B286-E3588701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93E32-CB14-424F-A469-C2E98993A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59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663B7-0C35-497C-A438-9E5882F18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F6501-FC22-4516-B6ED-35FFE3AFD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37482-A83D-426D-9E7C-65F7DF1C7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DC56D-0611-4193-A426-4F75EFA4A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9F9F9-D13D-4B86-AFBC-F200625CC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2C56D-4763-4DFC-9F2E-A746FFD9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59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87EB-B783-475A-91E6-ECB37BD37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4F15B-01BD-4E9A-9427-D50E37B26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E41FA-B9D1-4264-8959-2F5A5DBEE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AF99B-210E-4BB8-97E8-FEF6463A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3B241-AA99-40FF-BDE2-6F02DED81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D4DDC-3D1B-4975-B5FF-65AE27512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7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8ECA-3599-4E19-98F9-8E5CC4254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9CEA2-6847-4E73-900D-540368498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49CB3-AE47-46CC-B354-2DAA08257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14A27-C11B-45B1-BADE-FF16C92F6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DB1C3-0F1D-46E3-9D02-EC8D036C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7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B55A9-529C-4380-8D16-03B9E402B9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D0832-4243-442D-B126-74A9A51AB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466D5-CD4F-426E-8314-3B062E10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9F647-53CB-47C2-8CCB-DFD0F6D59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4689FC-00DE-425A-99F4-1E122774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79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3A05E-682A-4CD8-8335-1AD0EE00B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C0F19-B229-4343-B883-7D6A94888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029C0-B439-41FC-B4E3-1F0426ED9F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689F8-E90C-4351-9F7C-5CE0A1F320CF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65CB0-E9A6-46CF-AD8A-33550163F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A0C7F-3868-4351-B759-45B530AEA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9BBAD6-0934-4B6F-8DAC-6CD491B971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551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AC8142-2C2C-44DA-9606-C801E38A8235}"/>
              </a:ext>
            </a:extLst>
          </p:cNvPr>
          <p:cNvSpPr txBox="1"/>
          <p:nvPr/>
        </p:nvSpPr>
        <p:spPr>
          <a:xfrm>
            <a:off x="685800" y="91440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dirty="0">
                <a:solidFill>
                  <a:srgbClr val="FFFFFF"/>
                </a:solidFill>
                <a:latin typeface="Aptos"/>
              </a:rPr>
              <a:t>SUPERSTORE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C1427-6E35-41CD-8251-4BE83D079739}"/>
              </a:ext>
            </a:extLst>
          </p:cNvPr>
          <p:cNvSpPr txBox="1"/>
          <p:nvPr/>
        </p:nvSpPr>
        <p:spPr>
          <a:xfrm>
            <a:off x="685800" y="1600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45B8F5"/>
                </a:solidFill>
                <a:latin typeface="Aptos"/>
              </a:rPr>
              <a:t>SALES &amp; PROFITABILITY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8C2C6-6726-4D13-8463-DEC45B5F0E58}"/>
              </a:ext>
            </a:extLst>
          </p:cNvPr>
          <p:cNvSpPr txBox="1"/>
          <p:nvPr/>
        </p:nvSpPr>
        <p:spPr>
          <a:xfrm>
            <a:off x="685800" y="228600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D9E1E8"/>
                </a:solidFill>
                <a:latin typeface="Aptos"/>
              </a:rPr>
              <a:t>Turning Business Data into Actionable 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5D97B9-4A03-4BDA-8FBD-EAED3022CA03}"/>
              </a:ext>
            </a:extLst>
          </p:cNvPr>
          <p:cNvSpPr txBox="1"/>
          <p:nvPr/>
        </p:nvSpPr>
        <p:spPr>
          <a:xfrm>
            <a:off x="685800" y="5669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Dawodu Fehintoluwa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93034-D84D-41B5-A043-32702C3068EC}"/>
              </a:ext>
            </a:extLst>
          </p:cNvPr>
          <p:cNvSpPr txBox="1"/>
          <p:nvPr/>
        </p:nvSpPr>
        <p:spPr>
          <a:xfrm>
            <a:off x="685800" y="60167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D9E1E8"/>
                </a:solidFill>
                <a:latin typeface="Aptos"/>
              </a:rPr>
              <a:t>Junior Data Analyst | AnalystLab Africa</a:t>
            </a:r>
          </a:p>
        </p:txBody>
      </p:sp>
    </p:spTree>
    <p:extLst>
      <p:ext uri="{BB962C8B-B14F-4D97-AF65-F5344CB8AC3E}">
        <p14:creationId xmlns:p14="http://schemas.microsoft.com/office/powerpoint/2010/main" val="1157294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6FD2-3C14-419E-9B33-EF86179A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9718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 Intelligence Overview</a:t>
            </a:r>
            <a:endParaRPr lang="en-US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E66C07-9E33-405D-96A5-2DB85516758C}"/>
              </a:ext>
            </a:extLst>
          </p:cNvPr>
          <p:cNvSpPr/>
          <p:nvPr/>
        </p:nvSpPr>
        <p:spPr>
          <a:xfrm>
            <a:off x="740567" y="1490444"/>
            <a:ext cx="3388521" cy="415311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E6E28D-C969-4D26-9424-954276D4C42F}"/>
              </a:ext>
            </a:extLst>
          </p:cNvPr>
          <p:cNvSpPr/>
          <p:nvPr/>
        </p:nvSpPr>
        <p:spPr>
          <a:xfrm>
            <a:off x="4500563" y="1490445"/>
            <a:ext cx="3500438" cy="41531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920AFB-D704-4CE2-9380-F8875EE76B82}"/>
              </a:ext>
            </a:extLst>
          </p:cNvPr>
          <p:cNvSpPr/>
          <p:nvPr/>
        </p:nvSpPr>
        <p:spPr>
          <a:xfrm>
            <a:off x="8372476" y="1490445"/>
            <a:ext cx="3500437" cy="415311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C65FFB-D47B-406C-9B78-0BEF9A809EC8}"/>
              </a:ext>
            </a:extLst>
          </p:cNvPr>
          <p:cNvSpPr txBox="1"/>
          <p:nvPr/>
        </p:nvSpPr>
        <p:spPr>
          <a:xfrm>
            <a:off x="4614863" y="2275717"/>
            <a:ext cx="3250406" cy="1855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Dashboards consolidate key performance indicators, trends and comparisons into an interactive visual interface, allowing decision-makers to understand performance quickly.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195F20-0B95-48D9-9CBE-BBC0CBA4F44F}"/>
              </a:ext>
            </a:extLst>
          </p:cNvPr>
          <p:cNvSpPr txBox="1"/>
          <p:nvPr/>
        </p:nvSpPr>
        <p:spPr>
          <a:xfrm>
            <a:off x="1100133" y="2003243"/>
            <a:ext cx="2500317" cy="2546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Intelligence transforms raw organizational data into meaningful insights that support strategic and operational decision-making.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F43B5D-9CC8-4105-A46F-D71DA3BD2CBF}"/>
              </a:ext>
            </a:extLst>
          </p:cNvPr>
          <p:cNvSpPr txBox="1"/>
          <p:nvPr/>
        </p:nvSpPr>
        <p:spPr>
          <a:xfrm>
            <a:off x="1057276" y="1490444"/>
            <a:ext cx="7496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BI?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19711-B279-4F68-8199-76D7D9110D21}"/>
              </a:ext>
            </a:extLst>
          </p:cNvPr>
          <p:cNvSpPr txBox="1"/>
          <p:nvPr/>
        </p:nvSpPr>
        <p:spPr>
          <a:xfrm>
            <a:off x="8526063" y="2286982"/>
            <a:ext cx="3195637" cy="2666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Identify trends and problems</a:t>
            </a:r>
            <a:endParaRPr lang="en-US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 performance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Compare business segment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 resource allocation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Make evidence-based decisions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B713C-9FFA-4CB5-9B7E-E74027B99CEE}"/>
              </a:ext>
            </a:extLst>
          </p:cNvPr>
          <p:cNvSpPr txBox="1"/>
          <p:nvPr/>
        </p:nvSpPr>
        <p:spPr>
          <a:xfrm>
            <a:off x="4607718" y="1615281"/>
            <a:ext cx="3467103" cy="409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Dashboards?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B5B2D0-2B59-40BB-BD17-AFBFA0C24B9B}"/>
              </a:ext>
            </a:extLst>
          </p:cNvPr>
          <p:cNvSpPr txBox="1"/>
          <p:nvPr/>
        </p:nvSpPr>
        <p:spPr>
          <a:xfrm>
            <a:off x="8417721" y="1577657"/>
            <a:ext cx="3195636" cy="40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Impact</a:t>
            </a:r>
            <a:endParaRPr lang="en-US" sz="20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9831DA-5E58-4549-9842-ECB9ABC767D4}"/>
              </a:ext>
            </a:extLst>
          </p:cNvPr>
          <p:cNvSpPr txBox="1"/>
          <p:nvPr/>
        </p:nvSpPr>
        <p:spPr>
          <a:xfrm>
            <a:off x="838200" y="6039990"/>
            <a:ext cx="100546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chemeClr val="tx2"/>
                </a:solidFill>
                <a:latin typeface="Aptos"/>
              </a:rPr>
              <a:t>BI turns data from a reporting resource into a decision-making tool.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122373-C3FF-4F6F-B33E-39C8971C234C}"/>
              </a:ext>
            </a:extLst>
          </p:cNvPr>
          <p:cNvCxnSpPr>
            <a:cxnSpLocks/>
          </p:cNvCxnSpPr>
          <p:nvPr/>
        </p:nvCxnSpPr>
        <p:spPr>
          <a:xfrm>
            <a:off x="942975" y="1228725"/>
            <a:ext cx="167163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550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0E192-338D-411D-97BB-AB19A53EE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781" y="365125"/>
            <a:ext cx="10716019" cy="963613"/>
          </a:xfrm>
        </p:spPr>
        <p:txBody>
          <a:bodyPr>
            <a:normAutofit fontScale="90000"/>
          </a:bodyPr>
          <a:lstStyle/>
          <a:p>
            <a:r>
              <a:rPr lang="en-US" sz="3600" b="1" kern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Objective &amp; Analytical </a:t>
            </a:r>
            <a:r>
              <a:rPr lang="en-US" sz="3600" b="1" kern="1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br>
              <a:rPr lang="en-US" sz="36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A20EC-AAFF-4500-8A87-EAEE299C0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127" y="1413668"/>
            <a:ext cx="10825673" cy="1103313"/>
          </a:xfrm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  <a:endParaRPr lang="en-US" sz="2200" b="1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evaluate Superstore sales and profitability performance and identify products, customers and geographical areas that present opportunities or risks for business growth.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4C1E6F5-268D-4D9F-A7F3-BA9A9918FE6F}"/>
              </a:ext>
            </a:extLst>
          </p:cNvPr>
          <p:cNvSpPr/>
          <p:nvPr/>
        </p:nvSpPr>
        <p:spPr>
          <a:xfrm>
            <a:off x="629661" y="2998827"/>
            <a:ext cx="2009802" cy="2718102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0ECC88-FA08-4755-9B27-539705823DD9}"/>
              </a:ext>
            </a:extLst>
          </p:cNvPr>
          <p:cNvSpPr/>
          <p:nvPr/>
        </p:nvSpPr>
        <p:spPr>
          <a:xfrm>
            <a:off x="592062" y="2998827"/>
            <a:ext cx="45719" cy="2776906"/>
          </a:xfrm>
          <a:prstGeom prst="rect">
            <a:avLst/>
          </a:prstGeom>
          <a:solidFill>
            <a:srgbClr val="167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1CE0CB-B988-43AF-A744-F46C9FD2354B}"/>
              </a:ext>
            </a:extLst>
          </p:cNvPr>
          <p:cNvSpPr txBox="1"/>
          <p:nvPr/>
        </p:nvSpPr>
        <p:spPr>
          <a:xfrm>
            <a:off x="808310" y="3349843"/>
            <a:ext cx="16525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ptos"/>
              </a:rPr>
              <a:t>SALES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FFBE91-5279-40B1-B3E6-699D565D1A84}"/>
              </a:ext>
            </a:extLst>
          </p:cNvPr>
          <p:cNvSpPr txBox="1"/>
          <p:nvPr/>
        </p:nvSpPr>
        <p:spPr>
          <a:xfrm>
            <a:off x="838199" y="3959259"/>
            <a:ext cx="16283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Aptos"/>
              </a:rPr>
              <a:t>How are sales</a:t>
            </a:r>
            <a:r>
              <a:rPr lang="en-US" sz="1600" b="0" dirty="0">
                <a:solidFill>
                  <a:srgbClr val="D9E1E8"/>
                </a:solidFill>
                <a:latin typeface="Aptos"/>
              </a:rPr>
              <a:t> </a:t>
            </a:r>
            <a:r>
              <a:rPr sz="1600" b="0" dirty="0">
                <a:solidFill>
                  <a:srgbClr val="D9E1E8"/>
                </a:solidFill>
                <a:latin typeface="Aptos"/>
              </a:rPr>
              <a:t>changing over time?</a:t>
            </a: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58803881-A96E-46A4-9C11-2659E3DDEB99}"/>
              </a:ext>
            </a:extLst>
          </p:cNvPr>
          <p:cNvSpPr/>
          <p:nvPr/>
        </p:nvSpPr>
        <p:spPr>
          <a:xfrm>
            <a:off x="2884846" y="3029271"/>
            <a:ext cx="2009802" cy="2687658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37B10-8F28-4084-963F-B4F63D29346F}"/>
              </a:ext>
            </a:extLst>
          </p:cNvPr>
          <p:cNvSpPr/>
          <p:nvPr/>
        </p:nvSpPr>
        <p:spPr>
          <a:xfrm>
            <a:off x="2829893" y="3029270"/>
            <a:ext cx="45720" cy="2715768"/>
          </a:xfrm>
          <a:prstGeom prst="rect">
            <a:avLst/>
          </a:prstGeom>
          <a:solidFill>
            <a:srgbClr val="4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F76EA-122F-4ADD-9F08-F150578AA8AA}"/>
              </a:ext>
            </a:extLst>
          </p:cNvPr>
          <p:cNvSpPr txBox="1"/>
          <p:nvPr/>
        </p:nvSpPr>
        <p:spPr>
          <a:xfrm>
            <a:off x="3063495" y="3349843"/>
            <a:ext cx="16525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PROFITABILITY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6D18CE-942F-4C54-8160-5FF0F8864D2D}"/>
              </a:ext>
            </a:extLst>
          </p:cNvPr>
          <p:cNvSpPr txBox="1"/>
          <p:nvPr/>
        </p:nvSpPr>
        <p:spPr>
          <a:xfrm>
            <a:off x="2934111" y="3925286"/>
            <a:ext cx="16525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Aptos"/>
              </a:rPr>
              <a:t>Where is profit generated or lost?</a:t>
            </a: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F0A30B40-C3C5-453C-9790-8E5A254D2165}"/>
              </a:ext>
            </a:extLst>
          </p:cNvPr>
          <p:cNvSpPr/>
          <p:nvPr/>
        </p:nvSpPr>
        <p:spPr>
          <a:xfrm>
            <a:off x="5152559" y="3029271"/>
            <a:ext cx="2009802" cy="2687658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7B17F5-BBAB-4589-B099-DB3F6A2C2DE3}"/>
              </a:ext>
            </a:extLst>
          </p:cNvPr>
          <p:cNvSpPr/>
          <p:nvPr/>
        </p:nvSpPr>
        <p:spPr>
          <a:xfrm>
            <a:off x="5148221" y="2998827"/>
            <a:ext cx="45720" cy="2718102"/>
          </a:xfrm>
          <a:prstGeom prst="rect">
            <a:avLst/>
          </a:prstGeom>
          <a:solidFill>
            <a:srgbClr val="18A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6B9E9B-3C46-4F0D-9B33-F7EC75EA99EA}"/>
              </a:ext>
            </a:extLst>
          </p:cNvPr>
          <p:cNvSpPr txBox="1"/>
          <p:nvPr/>
        </p:nvSpPr>
        <p:spPr>
          <a:xfrm>
            <a:off x="5334930" y="3349842"/>
            <a:ext cx="16525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PRODUCTS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7C3414-E4C5-4DB4-9CCB-21E16F8040C6}"/>
              </a:ext>
            </a:extLst>
          </p:cNvPr>
          <p:cNvSpPr txBox="1"/>
          <p:nvPr/>
        </p:nvSpPr>
        <p:spPr>
          <a:xfrm>
            <a:off x="5377436" y="3821648"/>
            <a:ext cx="16525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Aptos"/>
              </a:rPr>
              <a:t>Which </a:t>
            </a:r>
            <a:r>
              <a:rPr lang="en-US" sz="1600" b="0" dirty="0">
                <a:solidFill>
                  <a:srgbClr val="D9E1E8"/>
                </a:solidFill>
                <a:latin typeface="Aptos"/>
              </a:rPr>
              <a:t>product, </a:t>
            </a:r>
            <a:r>
              <a:rPr sz="1600" b="0" dirty="0">
                <a:solidFill>
                  <a:srgbClr val="D9E1E8"/>
                </a:solidFill>
                <a:latin typeface="Aptos"/>
              </a:rPr>
              <a:t>categories</a:t>
            </a:r>
            <a:r>
              <a:rPr lang="en-US" sz="1600" b="0" dirty="0">
                <a:solidFill>
                  <a:srgbClr val="D9E1E8"/>
                </a:solidFill>
                <a:latin typeface="Aptos"/>
              </a:rPr>
              <a:t>,</a:t>
            </a:r>
            <a:r>
              <a:rPr sz="1600" b="0" dirty="0">
                <a:solidFill>
                  <a:srgbClr val="D9E1E8"/>
                </a:solidFill>
                <a:latin typeface="Aptos"/>
              </a:rPr>
              <a:t> </a:t>
            </a:r>
            <a:r>
              <a:rPr lang="en-US" sz="1600" b="0" dirty="0">
                <a:solidFill>
                  <a:srgbClr val="D9E1E8"/>
                </a:solidFill>
                <a:latin typeface="Aptos"/>
              </a:rPr>
              <a:t>and subcategories drives sales and profitability</a:t>
            </a:r>
            <a:r>
              <a:rPr sz="1600" b="0" dirty="0">
                <a:solidFill>
                  <a:srgbClr val="D9E1E8"/>
                </a:solidFill>
                <a:latin typeface="Aptos"/>
              </a:rPr>
              <a:t>?</a:t>
            </a:r>
          </a:p>
        </p:txBody>
      </p:sp>
      <p:sp>
        <p:nvSpPr>
          <p:cNvPr id="27" name="Rounded Rectangle 16">
            <a:extLst>
              <a:ext uri="{FF2B5EF4-FFF2-40B4-BE49-F238E27FC236}">
                <a16:creationId xmlns:a16="http://schemas.microsoft.com/office/drawing/2014/main" id="{6DFC6C42-C2F2-41A0-8E9A-7FC57A1C58DB}"/>
              </a:ext>
            </a:extLst>
          </p:cNvPr>
          <p:cNvSpPr/>
          <p:nvPr/>
        </p:nvSpPr>
        <p:spPr>
          <a:xfrm>
            <a:off x="7386638" y="3029271"/>
            <a:ext cx="2043434" cy="2600004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806242-59EF-46AD-B24D-D63C760AE7D2}"/>
              </a:ext>
            </a:extLst>
          </p:cNvPr>
          <p:cNvSpPr/>
          <p:nvPr/>
        </p:nvSpPr>
        <p:spPr>
          <a:xfrm>
            <a:off x="7414017" y="2998827"/>
            <a:ext cx="45720" cy="2651760"/>
          </a:xfrm>
          <a:prstGeom prst="rect">
            <a:avLst/>
          </a:prstGeom>
          <a:solidFill>
            <a:srgbClr val="167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035624-AA2A-4B3B-A3AE-DC1720AC4D9B}"/>
              </a:ext>
            </a:extLst>
          </p:cNvPr>
          <p:cNvSpPr txBox="1"/>
          <p:nvPr/>
        </p:nvSpPr>
        <p:spPr>
          <a:xfrm>
            <a:off x="7572762" y="3349842"/>
            <a:ext cx="16525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CUSTOMERS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D2E80-386E-40C8-8648-22F5B0B062B3}"/>
              </a:ext>
            </a:extLst>
          </p:cNvPr>
          <p:cNvSpPr txBox="1"/>
          <p:nvPr/>
        </p:nvSpPr>
        <p:spPr>
          <a:xfrm>
            <a:off x="7587021" y="3854039"/>
            <a:ext cx="165250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Aptos"/>
              </a:rPr>
              <a:t>Which </a:t>
            </a:r>
            <a:r>
              <a:rPr lang="en-US" sz="1600" b="0" dirty="0">
                <a:solidFill>
                  <a:srgbClr val="D9E1E8"/>
                </a:solidFill>
                <a:latin typeface="Aptos"/>
              </a:rPr>
              <a:t>customer </a:t>
            </a:r>
            <a:r>
              <a:rPr sz="1600" b="0" dirty="0">
                <a:solidFill>
                  <a:srgbClr val="D9E1E8"/>
                </a:solidFill>
                <a:latin typeface="Aptos"/>
              </a:rPr>
              <a:t>segment contributes most</a:t>
            </a:r>
            <a:r>
              <a:rPr lang="en-US" sz="1600" b="0" dirty="0">
                <a:solidFill>
                  <a:srgbClr val="D9E1E8"/>
                </a:solidFill>
                <a:latin typeface="Aptos"/>
              </a:rPr>
              <a:t> revenue</a:t>
            </a:r>
            <a:r>
              <a:rPr sz="1600" b="0" dirty="0">
                <a:solidFill>
                  <a:srgbClr val="D9E1E8"/>
                </a:solidFill>
                <a:latin typeface="Aptos"/>
              </a:rPr>
              <a:t>?</a:t>
            </a:r>
          </a:p>
        </p:txBody>
      </p:sp>
      <p:sp>
        <p:nvSpPr>
          <p:cNvPr id="31" name="Rounded Rectangle 20">
            <a:extLst>
              <a:ext uri="{FF2B5EF4-FFF2-40B4-BE49-F238E27FC236}">
                <a16:creationId xmlns:a16="http://schemas.microsoft.com/office/drawing/2014/main" id="{0F697037-B220-43EE-B52B-34D0CCBDB449}"/>
              </a:ext>
            </a:extLst>
          </p:cNvPr>
          <p:cNvSpPr/>
          <p:nvPr/>
        </p:nvSpPr>
        <p:spPr>
          <a:xfrm>
            <a:off x="9733848" y="3024160"/>
            <a:ext cx="2009802" cy="2667435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87B9C5-C069-407B-AA93-4375F0ED4A92}"/>
              </a:ext>
            </a:extLst>
          </p:cNvPr>
          <p:cNvSpPr/>
          <p:nvPr/>
        </p:nvSpPr>
        <p:spPr>
          <a:xfrm>
            <a:off x="9664184" y="3049493"/>
            <a:ext cx="45720" cy="2697480"/>
          </a:xfrm>
          <a:prstGeom prst="rect">
            <a:avLst/>
          </a:prstGeom>
          <a:solidFill>
            <a:srgbClr val="45B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46168C-BF05-453D-8F2D-00D7EE699791}"/>
              </a:ext>
            </a:extLst>
          </p:cNvPr>
          <p:cNvSpPr txBox="1"/>
          <p:nvPr/>
        </p:nvSpPr>
        <p:spPr>
          <a:xfrm>
            <a:off x="9912497" y="3428247"/>
            <a:ext cx="16525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GEOGRAPHY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A4A33E-0C64-44B7-B94F-E7860A904267}"/>
              </a:ext>
            </a:extLst>
          </p:cNvPr>
          <p:cNvSpPr txBox="1"/>
          <p:nvPr/>
        </p:nvSpPr>
        <p:spPr>
          <a:xfrm>
            <a:off x="9912497" y="3836830"/>
            <a:ext cx="16525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Aptos"/>
              </a:rPr>
              <a:t>Which regions perform best?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BC2827-718A-47C2-9FBA-6A23588D5A69}"/>
              </a:ext>
            </a:extLst>
          </p:cNvPr>
          <p:cNvSpPr txBox="1"/>
          <p:nvPr/>
        </p:nvSpPr>
        <p:spPr>
          <a:xfrm>
            <a:off x="528127" y="6003180"/>
            <a:ext cx="1027084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dirty="0">
                <a:solidFill>
                  <a:srgbClr val="45B8F5"/>
                </a:solidFill>
                <a:latin typeface="Aptos"/>
              </a:rPr>
              <a:t>DATA  →  CLEAN  →  ANALYSE  →  VISUALIZE  →  DECIDE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CA0F90F-B64F-4B8A-BB90-6FB2C51FAD90}"/>
              </a:ext>
            </a:extLst>
          </p:cNvPr>
          <p:cNvCxnSpPr>
            <a:cxnSpLocks/>
          </p:cNvCxnSpPr>
          <p:nvPr/>
        </p:nvCxnSpPr>
        <p:spPr>
          <a:xfrm>
            <a:off x="637781" y="814388"/>
            <a:ext cx="167163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026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A9B23-E58B-4C04-8842-CB6AA51C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65126"/>
            <a:ext cx="10850880" cy="877888"/>
          </a:xfrm>
        </p:spPr>
        <p:txBody>
          <a:bodyPr>
            <a:normAutofit/>
          </a:bodyPr>
          <a:lstStyle/>
          <a:p>
            <a:r>
              <a:rPr lang="en-US" sz="3600" b="1" kern="18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Executive Performance Overview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751141BB-76B1-4CF0-B1A1-4C40C23AE9BD}"/>
              </a:ext>
            </a:extLst>
          </p:cNvPr>
          <p:cNvSpPr/>
          <p:nvPr/>
        </p:nvSpPr>
        <p:spPr>
          <a:xfrm>
            <a:off x="502920" y="1417320"/>
            <a:ext cx="1755648" cy="123444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E6912-1D44-4011-B5C4-657E6DE870D8}"/>
              </a:ext>
            </a:extLst>
          </p:cNvPr>
          <p:cNvSpPr txBox="1"/>
          <p:nvPr/>
        </p:nvSpPr>
        <p:spPr>
          <a:xfrm>
            <a:off x="704088" y="1581912"/>
            <a:ext cx="12600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chemeClr val="bg1"/>
                </a:solidFill>
                <a:latin typeface="Aptos"/>
              </a:rPr>
              <a:t>TOTAL SALES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04734A-3BC3-4D6C-B014-7D5079495EB8}"/>
              </a:ext>
            </a:extLst>
          </p:cNvPr>
          <p:cNvSpPr txBox="1"/>
          <p:nvPr/>
        </p:nvSpPr>
        <p:spPr>
          <a:xfrm>
            <a:off x="963001" y="1993392"/>
            <a:ext cx="83548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chemeClr val="bg1"/>
                </a:solidFill>
                <a:latin typeface="Aptos"/>
              </a:rPr>
              <a:t>$2.30M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B5E14CF6-70F0-4F68-AD56-F8BC9F19B10E}"/>
              </a:ext>
            </a:extLst>
          </p:cNvPr>
          <p:cNvSpPr/>
          <p:nvPr/>
        </p:nvSpPr>
        <p:spPr>
          <a:xfrm>
            <a:off x="2441448" y="1417320"/>
            <a:ext cx="1755648" cy="123444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23CEA-E6FD-4A56-95F8-5ABE0A5928A5}"/>
              </a:ext>
            </a:extLst>
          </p:cNvPr>
          <p:cNvSpPr txBox="1"/>
          <p:nvPr/>
        </p:nvSpPr>
        <p:spPr>
          <a:xfrm>
            <a:off x="2642616" y="1581912"/>
            <a:ext cx="14533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chemeClr val="bg1"/>
                </a:solidFill>
                <a:latin typeface="Aptos"/>
              </a:rPr>
              <a:t>TOTAL ORDERS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49EA0-513B-4CD1-B5A3-33928D5B06BD}"/>
              </a:ext>
            </a:extLst>
          </p:cNvPr>
          <p:cNvSpPr txBox="1"/>
          <p:nvPr/>
        </p:nvSpPr>
        <p:spPr>
          <a:xfrm>
            <a:off x="2992099" y="1993392"/>
            <a:ext cx="6543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chemeClr val="bg1"/>
                </a:solidFill>
                <a:latin typeface="Aptos"/>
              </a:rPr>
              <a:t>5,009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B056E1-5AF7-4FB3-AA8A-288F6B3E7028}"/>
              </a:ext>
            </a:extLst>
          </p:cNvPr>
          <p:cNvSpPr/>
          <p:nvPr/>
        </p:nvSpPr>
        <p:spPr>
          <a:xfrm>
            <a:off x="4379976" y="1417320"/>
            <a:ext cx="1755648" cy="123444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93574E-B6C8-4483-A5E0-A4493CE64FD7}"/>
              </a:ext>
            </a:extLst>
          </p:cNvPr>
          <p:cNvSpPr txBox="1"/>
          <p:nvPr/>
        </p:nvSpPr>
        <p:spPr>
          <a:xfrm>
            <a:off x="4581144" y="1581912"/>
            <a:ext cx="13699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chemeClr val="bg1"/>
                </a:solidFill>
                <a:latin typeface="Aptos"/>
              </a:rPr>
              <a:t>TOTAL PROFIT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ADA98-B78B-43E8-BE15-4809E64EA02B}"/>
              </a:ext>
            </a:extLst>
          </p:cNvPr>
          <p:cNvSpPr txBox="1"/>
          <p:nvPr/>
        </p:nvSpPr>
        <p:spPr>
          <a:xfrm>
            <a:off x="4769525" y="1993392"/>
            <a:ext cx="9765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chemeClr val="bg1"/>
                </a:solidFill>
                <a:latin typeface="Aptos"/>
              </a:rPr>
              <a:t>$286.40K</a:t>
            </a:r>
          </a:p>
        </p:txBody>
      </p:sp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BB76038A-F2F7-442B-9F99-43B38E51C896}"/>
              </a:ext>
            </a:extLst>
          </p:cNvPr>
          <p:cNvSpPr/>
          <p:nvPr/>
        </p:nvSpPr>
        <p:spPr>
          <a:xfrm>
            <a:off x="6318504" y="1417320"/>
            <a:ext cx="1755648" cy="123444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B987C8-FA52-4843-BB5E-A333DDAC5130}"/>
              </a:ext>
            </a:extLst>
          </p:cNvPr>
          <p:cNvSpPr txBox="1"/>
          <p:nvPr/>
        </p:nvSpPr>
        <p:spPr>
          <a:xfrm>
            <a:off x="6519672" y="1581912"/>
            <a:ext cx="11519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chemeClr val="bg1"/>
                </a:solidFill>
                <a:latin typeface="Aptos"/>
              </a:rPr>
              <a:t>AVG. SALES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3979A3-858C-4505-BCFF-B861DE32E2A2}"/>
              </a:ext>
            </a:extLst>
          </p:cNvPr>
          <p:cNvSpPr txBox="1"/>
          <p:nvPr/>
        </p:nvSpPr>
        <p:spPr>
          <a:xfrm>
            <a:off x="6764158" y="1993392"/>
            <a:ext cx="8643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chemeClr val="bg1"/>
                </a:solidFill>
                <a:latin typeface="Aptos"/>
              </a:rPr>
              <a:t>$229.86</a:t>
            </a:r>
          </a:p>
        </p:txBody>
      </p:sp>
      <p:sp>
        <p:nvSpPr>
          <p:cNvPr id="19" name="Rounded Rectangle 20">
            <a:extLst>
              <a:ext uri="{FF2B5EF4-FFF2-40B4-BE49-F238E27FC236}">
                <a16:creationId xmlns:a16="http://schemas.microsoft.com/office/drawing/2014/main" id="{92EE11A1-B03A-4962-B4CE-D29CD2C8DA37}"/>
              </a:ext>
            </a:extLst>
          </p:cNvPr>
          <p:cNvSpPr/>
          <p:nvPr/>
        </p:nvSpPr>
        <p:spPr>
          <a:xfrm>
            <a:off x="8257032" y="1417320"/>
            <a:ext cx="1755648" cy="123444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395E10-7092-4F19-AB92-8B1BFFBAA260}"/>
              </a:ext>
            </a:extLst>
          </p:cNvPr>
          <p:cNvSpPr txBox="1"/>
          <p:nvPr/>
        </p:nvSpPr>
        <p:spPr>
          <a:xfrm>
            <a:off x="8308168" y="1536079"/>
            <a:ext cx="15821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ptos"/>
              </a:rPr>
              <a:t>PROFIT MARGIN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A3BC18-9723-47B6-974F-1E0F682FB99B}"/>
              </a:ext>
            </a:extLst>
          </p:cNvPr>
          <p:cNvSpPr txBox="1"/>
          <p:nvPr/>
        </p:nvSpPr>
        <p:spPr>
          <a:xfrm>
            <a:off x="8673419" y="1974706"/>
            <a:ext cx="80502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chemeClr val="bg1"/>
                </a:solidFill>
                <a:latin typeface="Aptos"/>
              </a:rPr>
              <a:t>12.47%</a:t>
            </a:r>
          </a:p>
        </p:txBody>
      </p: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EC1D4690-134A-4B7A-8FEA-7192BBE97BE4}"/>
              </a:ext>
            </a:extLst>
          </p:cNvPr>
          <p:cNvSpPr/>
          <p:nvPr/>
        </p:nvSpPr>
        <p:spPr>
          <a:xfrm>
            <a:off x="10195560" y="1417320"/>
            <a:ext cx="1755648" cy="123444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946498-D273-436B-9283-492498CFB1A8}"/>
              </a:ext>
            </a:extLst>
          </p:cNvPr>
          <p:cNvSpPr txBox="1"/>
          <p:nvPr/>
        </p:nvSpPr>
        <p:spPr>
          <a:xfrm>
            <a:off x="10396728" y="1581912"/>
            <a:ext cx="12491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chemeClr val="bg1"/>
                </a:solidFill>
                <a:latin typeface="Aptos"/>
              </a:rPr>
              <a:t>CUSTOMERS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B7BF0E-6AAC-4FAC-B5EF-5DB8533953F9}"/>
              </a:ext>
            </a:extLst>
          </p:cNvPr>
          <p:cNvSpPr txBox="1"/>
          <p:nvPr/>
        </p:nvSpPr>
        <p:spPr>
          <a:xfrm>
            <a:off x="10824758" y="1993392"/>
            <a:ext cx="49725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chemeClr val="bg1"/>
                </a:solidFill>
                <a:latin typeface="Aptos"/>
              </a:rPr>
              <a:t>793</a:t>
            </a:r>
          </a:p>
        </p:txBody>
      </p:sp>
      <p:sp>
        <p:nvSpPr>
          <p:cNvPr id="25" name="Rounded Rectangle 28">
            <a:extLst>
              <a:ext uri="{FF2B5EF4-FFF2-40B4-BE49-F238E27FC236}">
                <a16:creationId xmlns:a16="http://schemas.microsoft.com/office/drawing/2014/main" id="{ADAA5C70-1AD0-474F-AD61-5A87288988F8}"/>
              </a:ext>
            </a:extLst>
          </p:cNvPr>
          <p:cNvSpPr/>
          <p:nvPr/>
        </p:nvSpPr>
        <p:spPr>
          <a:xfrm>
            <a:off x="435495" y="3044952"/>
            <a:ext cx="5796418" cy="251460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7F0873-6C13-4C49-A734-7B10AF7B5FF2}"/>
              </a:ext>
            </a:extLst>
          </p:cNvPr>
          <p:cNvSpPr txBox="1"/>
          <p:nvPr/>
        </p:nvSpPr>
        <p:spPr>
          <a:xfrm>
            <a:off x="773749" y="3209544"/>
            <a:ext cx="53937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Aptos"/>
              </a:rPr>
              <a:t>DASHBOARD EVIDENCE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F212EB-F0D4-4489-9F61-CC491508E39C}"/>
              </a:ext>
            </a:extLst>
          </p:cNvPr>
          <p:cNvSpPr txBox="1"/>
          <p:nvPr/>
        </p:nvSpPr>
        <p:spPr>
          <a:xfrm>
            <a:off x="718399" y="3611880"/>
            <a:ext cx="53937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chemeClr val="bg1"/>
                </a:solidFill>
                <a:latin typeface="Aptos"/>
              </a:rPr>
              <a:t>Annual sales and profit increased from 2014 to 2017.
West leads regional sales at approximately $0.73M.
Consumer customers contribute approximately 50.6% of </a:t>
            </a:r>
            <a:r>
              <a:rPr lang="en-US" sz="1600" dirty="0">
                <a:solidFill>
                  <a:schemeClr val="bg1"/>
                </a:solidFill>
                <a:latin typeface="Aptos"/>
              </a:rPr>
              <a:t>total sales</a:t>
            </a:r>
            <a:r>
              <a:rPr sz="1600" b="0" dirty="0">
                <a:solidFill>
                  <a:schemeClr val="bg1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32">
            <a:extLst>
              <a:ext uri="{FF2B5EF4-FFF2-40B4-BE49-F238E27FC236}">
                <a16:creationId xmlns:a16="http://schemas.microsoft.com/office/drawing/2014/main" id="{4814E99F-DF9C-44A6-A17A-94B381DC8B9C}"/>
              </a:ext>
            </a:extLst>
          </p:cNvPr>
          <p:cNvSpPr/>
          <p:nvPr/>
        </p:nvSpPr>
        <p:spPr>
          <a:xfrm>
            <a:off x="6461760" y="3044952"/>
            <a:ext cx="5489447" cy="251460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19C870-FCF1-4DFC-95B0-CBF10D190BB7}"/>
              </a:ext>
            </a:extLst>
          </p:cNvPr>
          <p:cNvSpPr txBox="1"/>
          <p:nvPr/>
        </p:nvSpPr>
        <p:spPr>
          <a:xfrm>
            <a:off x="6461760" y="3209544"/>
            <a:ext cx="52947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chemeClr val="bg1"/>
                </a:solidFill>
                <a:latin typeface="Aptos"/>
              </a:rPr>
              <a:t>EXECUTIVE TAKEAWAY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263805-8BDC-4774-B8E3-C6215C92BBA1}"/>
              </a:ext>
            </a:extLst>
          </p:cNvPr>
          <p:cNvSpPr txBox="1"/>
          <p:nvPr/>
        </p:nvSpPr>
        <p:spPr>
          <a:xfrm>
            <a:off x="6634616" y="3611880"/>
            <a:ext cx="51218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sz="1600" b="0" dirty="0">
                <a:solidFill>
                  <a:schemeClr val="bg1"/>
                </a:solidFill>
                <a:latin typeface="Aptos"/>
              </a:rPr>
              <a:t>The business shows positive overall growth, but management should evaluate regional performance and profitability together rather than relying on sales alone.</a:t>
            </a:r>
          </a:p>
        </p:txBody>
      </p:sp>
    </p:spTree>
    <p:extLst>
      <p:ext uri="{BB962C8B-B14F-4D97-AF65-F5344CB8AC3E}">
        <p14:creationId xmlns:p14="http://schemas.microsoft.com/office/powerpoint/2010/main" val="2021199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8A2B-64CA-425F-A66C-18C9D59CD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1600" b="1" kern="180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 &amp; Profitability Analysis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33FE0E73-F834-4258-A140-846B2133A184}"/>
              </a:ext>
            </a:extLst>
          </p:cNvPr>
          <p:cNvSpPr/>
          <p:nvPr/>
        </p:nvSpPr>
        <p:spPr>
          <a:xfrm>
            <a:off x="640080" y="1417320"/>
            <a:ext cx="3429000" cy="196596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10C27-DD46-4B0C-91D0-9AAFAAAE1389}"/>
              </a:ext>
            </a:extLst>
          </p:cNvPr>
          <p:cNvSpPr txBox="1"/>
          <p:nvPr/>
        </p:nvSpPr>
        <p:spPr>
          <a:xfrm>
            <a:off x="841247" y="1581912"/>
            <a:ext cx="10771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TOP SALES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ECB984-C3E2-46F9-B300-D9820963B411}"/>
              </a:ext>
            </a:extLst>
          </p:cNvPr>
          <p:cNvSpPr txBox="1"/>
          <p:nvPr/>
        </p:nvSpPr>
        <p:spPr>
          <a:xfrm>
            <a:off x="789432" y="1981124"/>
            <a:ext cx="304269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generated the highest </a:t>
            </a:r>
            <a:endParaRPr lang="en-US" sz="1600" b="0" dirty="0">
              <a:solidFill>
                <a:srgbClr val="D9E1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sales at approximately </a:t>
            </a:r>
            <a:endParaRPr lang="en-US" sz="1600" b="0" dirty="0">
              <a:solidFill>
                <a:srgbClr val="D9E1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$0.84M.</a:t>
            </a:r>
          </a:p>
        </p:txBody>
      </p:sp>
      <p:sp>
        <p:nvSpPr>
          <p:cNvPr id="23" name="Rounded Rectangle 7">
            <a:extLst>
              <a:ext uri="{FF2B5EF4-FFF2-40B4-BE49-F238E27FC236}">
                <a16:creationId xmlns:a16="http://schemas.microsoft.com/office/drawing/2014/main" id="{D944B65F-E105-48F4-8349-2DC83412A939}"/>
              </a:ext>
            </a:extLst>
          </p:cNvPr>
          <p:cNvSpPr/>
          <p:nvPr/>
        </p:nvSpPr>
        <p:spPr>
          <a:xfrm>
            <a:off x="4389120" y="1417320"/>
            <a:ext cx="3429000" cy="196596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D2F8D14-C40C-448A-BB6B-E03F4BFC22A7}"/>
              </a:ext>
            </a:extLst>
          </p:cNvPr>
          <p:cNvSpPr txBox="1"/>
          <p:nvPr/>
        </p:nvSpPr>
        <p:spPr>
          <a:xfrm>
            <a:off x="4590288" y="1581912"/>
            <a:ext cx="18770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Aptos"/>
              </a:rPr>
              <a:t>Highest profitability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DFD20F-70D7-4359-8AF6-337FC2223D8F}"/>
              </a:ext>
            </a:extLst>
          </p:cNvPr>
          <p:cNvSpPr txBox="1"/>
          <p:nvPr/>
        </p:nvSpPr>
        <p:spPr>
          <a:xfrm>
            <a:off x="4590288" y="1892491"/>
            <a:ext cx="298408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Copiers generated approximately </a:t>
            </a:r>
            <a:endParaRPr lang="en-US" sz="1600" b="0" dirty="0">
              <a:solidFill>
                <a:srgbClr val="D9E1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$56K profit with a 37.2% margin</a:t>
            </a:r>
            <a:r>
              <a:rPr sz="1600" b="0" dirty="0">
                <a:solidFill>
                  <a:srgbClr val="D9E1E8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11">
            <a:extLst>
              <a:ext uri="{FF2B5EF4-FFF2-40B4-BE49-F238E27FC236}">
                <a16:creationId xmlns:a16="http://schemas.microsoft.com/office/drawing/2014/main" id="{8EF9C0EC-7FF3-41A5-8F2E-4FC361EBC4B0}"/>
              </a:ext>
            </a:extLst>
          </p:cNvPr>
          <p:cNvSpPr/>
          <p:nvPr/>
        </p:nvSpPr>
        <p:spPr>
          <a:xfrm>
            <a:off x="8138160" y="1417320"/>
            <a:ext cx="3429000" cy="196596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0B428C-EC2A-4861-8CB6-6C711BCD325D}"/>
              </a:ext>
            </a:extLst>
          </p:cNvPr>
          <p:cNvSpPr txBox="1"/>
          <p:nvPr/>
        </p:nvSpPr>
        <p:spPr>
          <a:xfrm>
            <a:off x="8339328" y="1581912"/>
            <a:ext cx="199676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PROFITABILITY ALERT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8074FA-63D7-46A7-8CC1-C25900175574}"/>
              </a:ext>
            </a:extLst>
          </p:cNvPr>
          <p:cNvSpPr txBox="1"/>
          <p:nvPr/>
        </p:nvSpPr>
        <p:spPr>
          <a:xfrm>
            <a:off x="8210989" y="1877403"/>
            <a:ext cx="30918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en-US"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generated</a:t>
            </a:r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approximately -$17.7K
Bookcases</a:t>
            </a:r>
            <a:r>
              <a:rPr lang="en-US" sz="160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generated </a:t>
            </a:r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-$3.5K
Both require profitability review.</a:t>
            </a:r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00F989BD-72BD-4B2A-A53E-D6780E554881}"/>
              </a:ext>
            </a:extLst>
          </p:cNvPr>
          <p:cNvSpPr/>
          <p:nvPr/>
        </p:nvSpPr>
        <p:spPr>
          <a:xfrm>
            <a:off x="640080" y="3703320"/>
            <a:ext cx="10927080" cy="178308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DC36CD-2AAA-4358-AC55-20B639A3B73A}"/>
              </a:ext>
            </a:extLst>
          </p:cNvPr>
          <p:cNvSpPr txBox="1"/>
          <p:nvPr/>
        </p:nvSpPr>
        <p:spPr>
          <a:xfrm>
            <a:off x="841247" y="3867911"/>
            <a:ext cx="13003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KEY </a:t>
            </a:r>
            <a:r>
              <a:rPr lang="en-US" sz="1600" b="1" dirty="0">
                <a:solidFill>
                  <a:srgbClr val="FFFFFF"/>
                </a:solidFill>
                <a:latin typeface="Aptos"/>
              </a:rPr>
              <a:t> INSIGHT</a:t>
            </a:r>
            <a:endParaRPr sz="16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9207E4-22E7-4FF6-9436-7DC66015BBF6}"/>
              </a:ext>
            </a:extLst>
          </p:cNvPr>
          <p:cNvSpPr txBox="1"/>
          <p:nvPr/>
        </p:nvSpPr>
        <p:spPr>
          <a:xfrm>
            <a:off x="841247" y="4270248"/>
            <a:ext cx="772557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sales volume does not necessarily translate into high profitability. </a:t>
            </a:r>
          </a:p>
          <a:p>
            <a:r>
              <a:rPr lang="en-US"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Product-level margin analysis is essential when prioritizing products, pricing and resources.</a:t>
            </a:r>
            <a:endParaRPr lang="en-US" sz="1600" dirty="0">
              <a:solidFill>
                <a:srgbClr val="D9E1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0" dirty="0">
              <a:solidFill>
                <a:srgbClr val="D9E1E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593665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1FC29-EC95-451D-9A33-5F4560F51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Business Insights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421C5B08-06AC-419E-A461-ED59F04EEE57}"/>
              </a:ext>
            </a:extLst>
          </p:cNvPr>
          <p:cNvSpPr/>
          <p:nvPr/>
        </p:nvSpPr>
        <p:spPr>
          <a:xfrm>
            <a:off x="640080" y="1417320"/>
            <a:ext cx="5212080" cy="132588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74826-B4F4-425B-9CD6-F0A04942D28A}"/>
              </a:ext>
            </a:extLst>
          </p:cNvPr>
          <p:cNvSpPr txBox="1"/>
          <p:nvPr/>
        </p:nvSpPr>
        <p:spPr>
          <a:xfrm>
            <a:off x="841247" y="1581912"/>
            <a:ext cx="20580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|  Positive Growth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49FF39-4472-4255-9746-E096B349FD99}"/>
              </a:ext>
            </a:extLst>
          </p:cNvPr>
          <p:cNvSpPr txBox="1"/>
          <p:nvPr/>
        </p:nvSpPr>
        <p:spPr>
          <a:xfrm>
            <a:off x="841247" y="1984248"/>
            <a:ext cx="500784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profit increased consistently from 2014 to 2017.</a:t>
            </a:r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9CEC7D3B-001C-472A-B1FF-B1838F4A3B85}"/>
              </a:ext>
            </a:extLst>
          </p:cNvPr>
          <p:cNvSpPr/>
          <p:nvPr/>
        </p:nvSpPr>
        <p:spPr>
          <a:xfrm>
            <a:off x="6172200" y="1417320"/>
            <a:ext cx="5212080" cy="132588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077F36-A2F5-48FB-BFA4-54D6EC909E9E}"/>
              </a:ext>
            </a:extLst>
          </p:cNvPr>
          <p:cNvSpPr txBox="1"/>
          <p:nvPr/>
        </p:nvSpPr>
        <p:spPr>
          <a:xfrm>
            <a:off x="6373368" y="1581912"/>
            <a:ext cx="209384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|  Regional Leader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EE4E28-F3B6-4365-89DA-654E5D2B4640}"/>
              </a:ext>
            </a:extLst>
          </p:cNvPr>
          <p:cNvSpPr txBox="1"/>
          <p:nvPr/>
        </p:nvSpPr>
        <p:spPr>
          <a:xfrm>
            <a:off x="6373368" y="1984248"/>
            <a:ext cx="50282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West recorded the highest sales at approximately $0.73M,</a:t>
            </a:r>
            <a:endParaRPr lang="en-US" sz="1600" b="0" dirty="0">
              <a:solidFill>
                <a:srgbClr val="D9E1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followed by East at $0.68M.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7C12749-47F8-45A3-AA91-7F20F77216C8}"/>
              </a:ext>
            </a:extLst>
          </p:cNvPr>
          <p:cNvSpPr/>
          <p:nvPr/>
        </p:nvSpPr>
        <p:spPr>
          <a:xfrm>
            <a:off x="640080" y="2990088"/>
            <a:ext cx="5212080" cy="132588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8A3EDE-7B26-4523-B7C6-1651A227363B}"/>
              </a:ext>
            </a:extLst>
          </p:cNvPr>
          <p:cNvSpPr txBox="1"/>
          <p:nvPr/>
        </p:nvSpPr>
        <p:spPr>
          <a:xfrm>
            <a:off x="841247" y="3154680"/>
            <a:ext cx="24929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|  Category Leadership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3C44AB-2E34-4247-872A-2B7DD23FF340}"/>
              </a:ext>
            </a:extLst>
          </p:cNvPr>
          <p:cNvSpPr txBox="1"/>
          <p:nvPr/>
        </p:nvSpPr>
        <p:spPr>
          <a:xfrm>
            <a:off x="841247" y="3557016"/>
            <a:ext cx="44740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generated the highest category sales at </a:t>
            </a:r>
            <a:endParaRPr lang="en-US" sz="1600" b="0" dirty="0">
              <a:solidFill>
                <a:srgbClr val="D9E1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$0.84M.</a:t>
            </a:r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280A427F-B314-4CD8-992F-9348E77C6C5E}"/>
              </a:ext>
            </a:extLst>
          </p:cNvPr>
          <p:cNvSpPr/>
          <p:nvPr/>
        </p:nvSpPr>
        <p:spPr>
          <a:xfrm>
            <a:off x="6172200" y="2990088"/>
            <a:ext cx="5212080" cy="132588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D26A4A-C6C1-4644-A4F9-AA372D3AFFDC}"/>
              </a:ext>
            </a:extLst>
          </p:cNvPr>
          <p:cNvSpPr txBox="1"/>
          <p:nvPr/>
        </p:nvSpPr>
        <p:spPr>
          <a:xfrm>
            <a:off x="6373368" y="3154680"/>
            <a:ext cx="17118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|  Profitability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892409-8E7C-4E5F-A6E5-913B14EF832B}"/>
              </a:ext>
            </a:extLst>
          </p:cNvPr>
          <p:cNvSpPr txBox="1"/>
          <p:nvPr/>
        </p:nvSpPr>
        <p:spPr>
          <a:xfrm>
            <a:off x="6373368" y="3557016"/>
            <a:ext cx="45212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Copiers generated approximately $56K profit with a </a:t>
            </a:r>
            <a:endParaRPr lang="en-US" sz="1600" b="0" dirty="0">
              <a:solidFill>
                <a:srgbClr val="D9E1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37.2% margin.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583E04DB-8F7E-4B16-B1E6-C30CC69DA639}"/>
              </a:ext>
            </a:extLst>
          </p:cNvPr>
          <p:cNvSpPr/>
          <p:nvPr/>
        </p:nvSpPr>
        <p:spPr>
          <a:xfrm>
            <a:off x="640080" y="4562856"/>
            <a:ext cx="5212080" cy="1325880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847421-F6A6-4EFD-9FB8-6AE15FA62E0F}"/>
              </a:ext>
            </a:extLst>
          </p:cNvPr>
          <p:cNvSpPr txBox="1"/>
          <p:nvPr/>
        </p:nvSpPr>
        <p:spPr>
          <a:xfrm>
            <a:off x="841247" y="4727448"/>
            <a:ext cx="270728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 |  Customer Contribution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A56C93-01FF-4EF9-9BB9-69D739E8BE97}"/>
              </a:ext>
            </a:extLst>
          </p:cNvPr>
          <p:cNvSpPr txBox="1"/>
          <p:nvPr/>
        </p:nvSpPr>
        <p:spPr>
          <a:xfrm>
            <a:off x="841247" y="5129784"/>
            <a:ext cx="480984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customers contributed approximately 50.6% </a:t>
            </a:r>
            <a:endParaRPr lang="en-US" sz="1600" b="0" dirty="0">
              <a:solidFill>
                <a:srgbClr val="D9E1E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total revenue.</a:t>
            </a:r>
          </a:p>
        </p:txBody>
      </p:sp>
    </p:spTree>
    <p:extLst>
      <p:ext uri="{BB962C8B-B14F-4D97-AF65-F5344CB8AC3E}">
        <p14:creationId xmlns:p14="http://schemas.microsoft.com/office/powerpoint/2010/main" val="1641036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7E7A0-C0A8-4B5D-B466-1788226D1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 Risks</a:t>
            </a:r>
            <a:r>
              <a:rPr lang="en-US" sz="3600" b="1" kern="1800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and</a:t>
            </a:r>
            <a:r>
              <a:rPr lang="en-US" sz="3600" b="1" kern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Opportunities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FA5490-8423-4B6C-8FA1-9DD1089F10CE}"/>
              </a:ext>
            </a:extLst>
          </p:cNvPr>
          <p:cNvSpPr/>
          <p:nvPr/>
        </p:nvSpPr>
        <p:spPr>
          <a:xfrm>
            <a:off x="650080" y="1511299"/>
            <a:ext cx="5636418" cy="4475164"/>
          </a:xfrm>
          <a:prstGeom prst="rect">
            <a:avLst/>
          </a:prstGeom>
          <a:noFill/>
          <a:ln w="2222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DA2FB5-F0B6-4B7A-9871-853DB6AD8846}"/>
              </a:ext>
            </a:extLst>
          </p:cNvPr>
          <p:cNvSpPr/>
          <p:nvPr/>
        </p:nvSpPr>
        <p:spPr>
          <a:xfrm>
            <a:off x="6474618" y="1511299"/>
            <a:ext cx="5255420" cy="4475164"/>
          </a:xfrm>
          <a:prstGeom prst="rect">
            <a:avLst/>
          </a:prstGeom>
          <a:noFill/>
          <a:ln w="22225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05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5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A95BB7-907C-463D-B7E3-46DA1C1C1657}"/>
              </a:ext>
            </a:extLst>
          </p:cNvPr>
          <p:cNvSpPr txBox="1"/>
          <p:nvPr/>
        </p:nvSpPr>
        <p:spPr>
          <a:xfrm>
            <a:off x="6634162" y="1564760"/>
            <a:ext cx="460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🔴</a:t>
            </a: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BUSINESS RISKS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37929B-1198-46B1-BEC5-4F1BC9981592}"/>
              </a:ext>
            </a:extLst>
          </p:cNvPr>
          <p:cNvSpPr txBox="1"/>
          <p:nvPr/>
        </p:nvSpPr>
        <p:spPr>
          <a:xfrm>
            <a:off x="633410" y="1690688"/>
            <a:ext cx="5510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🟢</a:t>
            </a: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BUSINESS OPPORTUNITIES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0557A3-0DB9-42EA-B28F-1D001B622773}"/>
              </a:ext>
            </a:extLst>
          </p:cNvPr>
          <p:cNvSpPr txBox="1"/>
          <p:nvPr/>
        </p:nvSpPr>
        <p:spPr>
          <a:xfrm>
            <a:off x="6474619" y="2071688"/>
            <a:ext cx="5255420" cy="2392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Loss-making products</a:t>
            </a:r>
            <a:b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Tables and Bookcases generate negative profitability.</a:t>
            </a:r>
            <a:endParaRPr lang="en-US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Sales without proportional profit</a:t>
            </a:r>
            <a:b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Strong revenue performance does not always translate into strong margins.</a:t>
            </a:r>
            <a:endParaRPr lang="en-US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Customer concentration</a:t>
            </a:r>
            <a:b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Consumer customers account for approximately half of revenue.</a:t>
            </a:r>
            <a:endParaRPr lang="en-US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8D288-2B56-43F3-A195-9DAD9DB59FBB}"/>
              </a:ext>
            </a:extLst>
          </p:cNvPr>
          <p:cNvSpPr txBox="1"/>
          <p:nvPr/>
        </p:nvSpPr>
        <p:spPr>
          <a:xfrm>
            <a:off x="838200" y="2041704"/>
            <a:ext cx="5133975" cy="2392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Expand profitable products</a:t>
            </a:r>
            <a:b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 focus on high-margin products such as Copiers.</a:t>
            </a:r>
            <a:endParaRPr lang="en-US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Grow Corporate &amp; Home Office segments</a:t>
            </a:r>
            <a:b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targeted strategies to increase their revenue contribution.</a:t>
            </a:r>
            <a:endParaRPr lang="en-US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Improve weaker regions</a:t>
            </a:r>
            <a:b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Apply lessons from high-performing regions to Central and South.</a:t>
            </a:r>
            <a:endParaRPr lang="en-US" sz="16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1F5043-233D-422E-AAC3-E381DB1554BA}"/>
              </a:ext>
            </a:extLst>
          </p:cNvPr>
          <p:cNvCxnSpPr>
            <a:cxnSpLocks/>
          </p:cNvCxnSpPr>
          <p:nvPr/>
        </p:nvCxnSpPr>
        <p:spPr>
          <a:xfrm>
            <a:off x="942975" y="1228725"/>
            <a:ext cx="167163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4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FEAC4-66B8-425D-983E-FF075494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Recommendation</a:t>
            </a:r>
          </a:p>
        </p:txBody>
      </p:sp>
      <p:sp>
        <p:nvSpPr>
          <p:cNvPr id="34" name="Rounded Rectangle 11">
            <a:extLst>
              <a:ext uri="{FF2B5EF4-FFF2-40B4-BE49-F238E27FC236}">
                <a16:creationId xmlns:a16="http://schemas.microsoft.com/office/drawing/2014/main" id="{E9C9038A-E1FE-41F7-8DDE-6095BC71BFB6}"/>
              </a:ext>
            </a:extLst>
          </p:cNvPr>
          <p:cNvSpPr/>
          <p:nvPr/>
        </p:nvSpPr>
        <p:spPr>
          <a:xfrm>
            <a:off x="579120" y="1886063"/>
            <a:ext cx="10774680" cy="3977639"/>
          </a:xfrm>
          <a:prstGeom prst="roundRect">
            <a:avLst/>
          </a:prstGeom>
          <a:solidFill>
            <a:srgbClr val="102A43"/>
          </a:solidFill>
          <a:ln>
            <a:solidFill>
              <a:srgbClr val="1F3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CC220E-527D-4BD3-8C76-E749FFF407A3}"/>
              </a:ext>
            </a:extLst>
          </p:cNvPr>
          <p:cNvSpPr txBox="1"/>
          <p:nvPr/>
        </p:nvSpPr>
        <p:spPr>
          <a:xfrm>
            <a:off x="942975" y="2434971"/>
            <a:ext cx="10405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Prioritize West and East while improving weaker regions.
02  Review pricing, discounts and costs for Tables and Bookcases.
03  Increase focus on high-margin products and inventory availability.
04  Develop targeted strategies for Corporate and Home Office customers.
05  Monitor Sales</a:t>
            </a:r>
            <a:r>
              <a:rPr lang="en-US"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</a:t>
            </a:r>
            <a:r>
              <a:rPr lang="en-US"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sz="1600" b="0" dirty="0">
                <a:solidFill>
                  <a:srgbClr val="D9E1E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together.</a:t>
            </a:r>
          </a:p>
        </p:txBody>
      </p:sp>
    </p:spTree>
    <p:extLst>
      <p:ext uri="{BB962C8B-B14F-4D97-AF65-F5344CB8AC3E}">
        <p14:creationId xmlns:p14="http://schemas.microsoft.com/office/powerpoint/2010/main" val="3066338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589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Segoe UI Emoji</vt:lpstr>
      <vt:lpstr>Symbol</vt:lpstr>
      <vt:lpstr>Times New Roman</vt:lpstr>
      <vt:lpstr>Office Theme</vt:lpstr>
      <vt:lpstr>PowerPoint Presentation</vt:lpstr>
      <vt:lpstr>Business Intelligence Overview</vt:lpstr>
      <vt:lpstr>Business Objective &amp; Analytical Focus </vt:lpstr>
      <vt:lpstr>Executive Performance Overview</vt:lpstr>
      <vt:lpstr>Product &amp; Profitability Analysis</vt:lpstr>
      <vt:lpstr>Key Business Insights</vt:lpstr>
      <vt:lpstr>Business Risks and Opportunities</vt:lpstr>
      <vt:lpstr>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18</cp:revision>
  <dcterms:created xsi:type="dcterms:W3CDTF">2026-08-14T17:47:23Z</dcterms:created>
  <dcterms:modified xsi:type="dcterms:W3CDTF">2026-08-15T11:27:49Z</dcterms:modified>
</cp:coreProperties>
</file>